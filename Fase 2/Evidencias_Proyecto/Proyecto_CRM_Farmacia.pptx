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6858000"/>
  <p:notesSz cx="6858000" cy="9144000"/>
  <p:embeddedFontLst>
    <p:embeddedFont>
      <p:font typeface="Franklin Gothic"/>
      <p:bold r:id="rId18"/>
    </p:embeddedFont>
    <p:embeddedFont>
      <p:font typeface="Bebas Neue"/>
      <p:regular r:id="rId19"/>
    </p:embeddedFont>
    <p:embeddedFont>
      <p:font typeface="Roboto Condensed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zcprvLMq1b6Go4eK32SNnKrxs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regular.fntdata"/><Relationship Id="rId22" Type="http://schemas.openxmlformats.org/officeDocument/2006/relationships/font" Target="fonts/RobotoCondensed-italic.fntdata"/><Relationship Id="rId21" Type="http://schemas.openxmlformats.org/officeDocument/2006/relationships/font" Target="fonts/RobotoCondensed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RobotoCondense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BebasNeue-regular.fntdata"/><Relationship Id="rId18" Type="http://schemas.openxmlformats.org/officeDocument/2006/relationships/font" Target="fonts/FranklinGothic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bef49e81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bef49e819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bef49e81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8bef49e819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/>
          <p:nvPr>
            <p:ph type="ctrTitle"/>
          </p:nvPr>
        </p:nvSpPr>
        <p:spPr>
          <a:xfrm>
            <a:off x="233781" y="744575"/>
            <a:ext cx="639045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/>
        </p:txBody>
      </p:sp>
      <p:sp>
        <p:nvSpPr>
          <p:cNvPr id="13" name="Google Shape;13;p54"/>
          <p:cNvSpPr txBox="1"/>
          <p:nvPr>
            <p:ph idx="1" type="subTitle"/>
          </p:nvPr>
        </p:nvSpPr>
        <p:spPr>
          <a:xfrm>
            <a:off x="233775" y="2834125"/>
            <a:ext cx="639045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/>
        </p:txBody>
      </p:sp>
      <p:sp>
        <p:nvSpPr>
          <p:cNvPr id="17" name="Google Shape;17;p55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6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" type="body"/>
          </p:nvPr>
        </p:nvSpPr>
        <p:spPr>
          <a:xfrm>
            <a:off x="233775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5" name="Google Shape;25;p57"/>
          <p:cNvSpPr txBox="1"/>
          <p:nvPr>
            <p:ph idx="2" type="body"/>
          </p:nvPr>
        </p:nvSpPr>
        <p:spPr>
          <a:xfrm>
            <a:off x="3624300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6" name="Google Shape;26;p57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8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/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/>
        </p:txBody>
      </p:sp>
      <p:sp>
        <p:nvSpPr>
          <p:cNvPr id="32" name="Google Shape;32;p59"/>
          <p:cNvSpPr txBox="1"/>
          <p:nvPr>
            <p:ph idx="1" type="body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0"/>
          <p:cNvSpPr txBox="1"/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36" name="Google Shape;36;p60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1"/>
          <p:cNvSpPr txBox="1"/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/>
        </p:txBody>
      </p:sp>
      <p:sp>
        <p:nvSpPr>
          <p:cNvPr id="40" name="Google Shape;40;p61"/>
          <p:cNvSpPr txBox="1"/>
          <p:nvPr>
            <p:ph idx="1" type="subTitle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/>
        </p:txBody>
      </p:sp>
      <p:sp>
        <p:nvSpPr>
          <p:cNvPr id="41" name="Google Shape;41;p61"/>
          <p:cNvSpPr txBox="1"/>
          <p:nvPr>
            <p:ph idx="2" type="body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2"/>
          <p:cNvSpPr txBox="1"/>
          <p:nvPr>
            <p:ph idx="1" type="body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62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/>
          <p:nvPr>
            <p:ph hasCustomPrompt="1" type="title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8" name="Google Shape;48;p63"/>
          <p:cNvSpPr txBox="1"/>
          <p:nvPr>
            <p:ph idx="1" type="body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31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1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1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1" name="Google Shape;61;p31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OBJECT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7" name="Google Shape;67;p4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8" name="Google Shape;68;p4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7">
  <p:cSld name="TITLE_3_2_2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  <p:sp>
        <p:nvSpPr>
          <p:cNvPr id="72" name="Google Shape;72;p43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74" name="Google Shape;74;p43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7">
  <p:cSld name="OBJECT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17284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4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1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4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0" name="Google Shape;80;p44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44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8">
  <p:cSld name="TITLE_3_2_1_1">
    <p:bg>
      <p:bgPr>
        <a:solidFill>
          <a:schemeClr val="accent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persona, foto, hombre, mujer&#10;&#10;Descripción generada automáticamente" id="85" name="Google Shape;85;p45"/>
          <p:cNvPicPr preferRelativeResize="0"/>
          <p:nvPr/>
        </p:nvPicPr>
        <p:blipFill rotWithShape="1">
          <a:blip r:embed="rId2">
            <a:alphaModFix/>
          </a:blip>
          <a:srcRect b="0" l="0" r="16349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6" name="Google Shape;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5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8">
  <p:cSld name="OBJECT_1_1_1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6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6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6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93" name="Google Shape;93;p46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4" name="Google Shape;94;p46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46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9">
  <p:cSld name="TITLE_3_3_1">
    <p:bg>
      <p:bgPr>
        <a:solidFill>
          <a:schemeClr val="accent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7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99" name="Google Shape;99;p47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0" name="Google Shape;100;p47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9">
  <p:cSld name="OBJECT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8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6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6" name="Google Shape;106;p48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7" name="Google Shape;107;p48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0">
  <p:cSld name="TITLE_3_4_1">
    <p:bg>
      <p:bgPr>
        <a:solidFill>
          <a:srgbClr val="7338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12" name="Google Shape;112;p49"/>
          <p:cNvPicPr preferRelativeResize="0"/>
          <p:nvPr/>
        </p:nvPicPr>
        <p:blipFill rotWithShape="1">
          <a:blip r:embed="rId3">
            <a:alphaModFix/>
          </a:blip>
          <a:srcRect b="0" l="0" r="16349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3" name="Google Shape;113;p49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0">
  <p:cSld name="OBJECT_1_1_1_1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73381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0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733814"/>
              </a:gs>
              <a:gs pos="100000">
                <a:srgbClr val="733814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0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19" name="Google Shape;119;p50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0" name="Google Shape;120;p50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1">
  <p:cSld name="TITLE_3_5_1">
    <p:bg>
      <p:bgPr>
        <a:solidFill>
          <a:srgbClr val="6C7A8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1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25" name="Google Shape;125;p51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6" name="Google Shape;126;p51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1">
  <p:cSld name="OBJECT_1_1_1_1_5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6C7A8A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6C7A8A"/>
              </a:gs>
              <a:gs pos="100000">
                <a:srgbClr val="6C7A8A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2" name="Google Shape;132;p5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3" name="Google Shape;53;p28"/>
          <p:cNvSpPr txBox="1"/>
          <p:nvPr>
            <p:ph type="title"/>
          </p:nvPr>
        </p:nvSpPr>
        <p:spPr>
          <a:xfrm>
            <a:off x="1322775" y="159544"/>
            <a:ext cx="50638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887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1522350" y="1595076"/>
            <a:ext cx="3813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Proyecto APT - CRM para Farmacias -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37003" l="0" r="0" t="0"/>
          <a:stretch/>
        </p:blipFill>
        <p:spPr>
          <a:xfrm>
            <a:off x="4769315" y="-555667"/>
            <a:ext cx="1764099" cy="111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201800" y="3311775"/>
            <a:ext cx="3567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Enrique García (Líder de Proyecto)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Acevedo (Validador de Mercado)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Bastian Hartal (Desarrollador)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1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Sede</a:t>
            </a:r>
            <a:r>
              <a:rPr b="0" i="1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Duoc UC - Sede Antonio Varas</a:t>
            </a:r>
            <a:endParaRPr b="0" i="1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bef49e819_0_28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48" name="Google Shape;148;g38bef49e819_0_28"/>
          <p:cNvSpPr txBox="1"/>
          <p:nvPr/>
        </p:nvSpPr>
        <p:spPr>
          <a:xfrm>
            <a:off x="2050300" y="4862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Enrique García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38bef49e819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50" y="723875"/>
            <a:ext cx="6695751" cy="413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55" name="Google Shape;155;p6"/>
          <p:cNvSpPr txBox="1"/>
          <p:nvPr/>
        </p:nvSpPr>
        <p:spPr>
          <a:xfrm>
            <a:off x="526100" y="695499"/>
            <a:ext cx="243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 DE COMPETENCIA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2116425" y="48669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00" y="988925"/>
            <a:ext cx="5685874" cy="398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63" name="Google Shape;163;p7"/>
          <p:cNvSpPr txBox="1"/>
          <p:nvPr/>
        </p:nvSpPr>
        <p:spPr>
          <a:xfrm>
            <a:off x="410925" y="898525"/>
            <a:ext cx="2783100" cy="3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FODA: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 (Internas +)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Datos reales 3 años farmacia piloto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Pricing disruptivo: 75% más barato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ML con Random Forest validado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Conocimiento sectorial profundo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Stack tecnológico dominado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OPORTUNIDADES (Externas +)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Digitalización post-pandemia (67%)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Sisfarma sin presencia en Chile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Márgenes bajos impulsan optimización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- 3,200 farmacias desatendidas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Crecimiento 12% anual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2304813" y="4670411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3636750" y="1296275"/>
            <a:ext cx="27831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DEBILIDADES (Internas -)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Timeline 10 semanas (corto)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Equipo 3 personas (recursos limitados)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Presupuesto $0 (bootstrapping)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Validación con 1 sola farmacia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Sin experiencia comercial previa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AMENAZAS (Externas -)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Sisfarma puede expandir a LATAM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Defontana puede agregar módulo CRM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Resistencia al cambio (sector tradicional)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Regulación datos de salud (Ley 20.584)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Inercia: "Excel funciona"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71" name="Google Shape;171;p8"/>
          <p:cNvSpPr txBox="1"/>
          <p:nvPr/>
        </p:nvSpPr>
        <p:spPr>
          <a:xfrm>
            <a:off x="2375733" y="4774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00" y="753900"/>
            <a:ext cx="5616625" cy="41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78" name="Google Shape;178;p19"/>
          <p:cNvSpPr txBox="1"/>
          <p:nvPr/>
        </p:nvSpPr>
        <p:spPr>
          <a:xfrm>
            <a:off x="1688788" y="693417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 DIAGRAMA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378656" y="4700866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625" y="1052200"/>
            <a:ext cx="5035725" cy="374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ef49e819_0_14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86" name="Google Shape;186;g38bef49e819_0_14"/>
          <p:cNvSpPr txBox="1"/>
          <p:nvPr/>
        </p:nvSpPr>
        <p:spPr>
          <a:xfrm>
            <a:off x="2502346" y="789588"/>
            <a:ext cx="20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FLUJO DE DATOS ML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8bef49e819_0_14"/>
          <p:cNvSpPr txBox="1"/>
          <p:nvPr/>
        </p:nvSpPr>
        <p:spPr>
          <a:xfrm>
            <a:off x="2378656" y="4700866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8bef49e819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8" y="1922975"/>
            <a:ext cx="6658324" cy="5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pic>
        <p:nvPicPr>
          <p:cNvPr id="194" name="Google Shape;19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25" y="771975"/>
            <a:ext cx="5464624" cy="4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00" name="Google Shape;200;p20"/>
          <p:cNvSpPr txBox="1"/>
          <p:nvPr/>
        </p:nvSpPr>
        <p:spPr>
          <a:xfrm>
            <a:off x="285800" y="970850"/>
            <a:ext cx="38715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📄 DOCUMENTACIÓN COMPLETA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Análisis FODA con estrategias cruzadas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Investigación competencia (Sisfarma, Defontana, CRM genéricos)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Modelos financieros: VAN $45.8M, ROI 404%, TIR 89%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Carta Gantt PMI con 7 semanas detalladas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Casos de Uso: 3 funcionalidades especificadas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Diagramas técnicos: Arquitectura, flujos, 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💻 DESARROLLO TÉCNICO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Setup Django 4.2 + PostgreSQL 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Modelos de datos: Cliente,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Transacción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Producto,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Admin panel Django configurado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Script importación datos (90% completo)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🟡 Modelo ML Random Forest (limpieza datos en progreso)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⏳ Dashboard segmentación (siguiente sprint)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DATOS Y VALIDACIÓN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Dataset real: 3 años histórico farmacia piloto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200+ transacciones, 30+ clientes únicos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Datos anonimizados y limpios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🔄 REPOSITORIO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GitHub con estructura organizada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Commits documentados y frecuentes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README actualizado con instrucciones instalación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775350" y="699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AVANCES LOGRADOS A LA FECHA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094118" y="4789491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100">
                <a:solidFill>
                  <a:schemeClr val="dk1"/>
                </a:solidFill>
              </a:rPr>
              <a:t>Enrique García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08" name="Google Shape;208;p21"/>
          <p:cNvSpPr txBox="1"/>
          <p:nvPr/>
        </p:nvSpPr>
        <p:spPr>
          <a:xfrm>
            <a:off x="2378650" y="4800648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100">
                <a:solidFill>
                  <a:schemeClr val="dk1"/>
                </a:solidFill>
              </a:rPr>
              <a:t>Enrique García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00" y="784525"/>
            <a:ext cx="4874823" cy="393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738" y="1945350"/>
            <a:ext cx="2366449" cy="218731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16" name="Google Shape;216;p25"/>
          <p:cNvSpPr txBox="1"/>
          <p:nvPr/>
        </p:nvSpPr>
        <p:spPr>
          <a:xfrm>
            <a:off x="2394693" y="4583366"/>
            <a:ext cx="2100688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Enrique García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1948799" y="1361850"/>
            <a:ext cx="299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¿Preguntas sobre la propuesta?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49516a-7525-4936-8880-b1dc1e580865_Enabled">
    <vt:lpwstr>true</vt:lpwstr>
  </property>
  <property fmtid="{D5CDD505-2E9C-101B-9397-08002B2CF9AE}" pid="3" name="MSIP_Label_af49516a-7525-4936-8880-b1dc1e580865_SetDate">
    <vt:lpwstr>2022-10-11T17:07:11Z</vt:lpwstr>
  </property>
  <property fmtid="{D5CDD505-2E9C-101B-9397-08002B2CF9AE}" pid="4" name="MSIP_Label_af49516a-7525-4936-8880-b1dc1e580865_Method">
    <vt:lpwstr>Privileged</vt:lpwstr>
  </property>
  <property fmtid="{D5CDD505-2E9C-101B-9397-08002B2CF9AE}" pid="5" name="MSIP_Label_af49516a-7525-4936-8880-b1dc1e580865_Name">
    <vt:lpwstr>Non-visible label</vt:lpwstr>
  </property>
  <property fmtid="{D5CDD505-2E9C-101B-9397-08002B2CF9AE}" pid="6" name="MSIP_Label_af49516a-7525-4936-8880-b1dc1e580865_SiteId">
    <vt:lpwstr>3bea478c-1684-4a8c-8e85-045ec54ba430</vt:lpwstr>
  </property>
  <property fmtid="{D5CDD505-2E9C-101B-9397-08002B2CF9AE}" pid="7" name="MSIP_Label_af49516a-7525-4936-8880-b1dc1e580865_ActionId">
    <vt:lpwstr>15bef36e-c1cf-474d-aa70-06169529d7fd</vt:lpwstr>
  </property>
  <property fmtid="{D5CDD505-2E9C-101B-9397-08002B2CF9AE}" pid="8" name="MSIP_Label_af49516a-7525-4936-8880-b1dc1e580865_ContentBits">
    <vt:lpwstr>0</vt:lpwstr>
  </property>
</Properties>
</file>