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6858000"/>
  <p:notesSz cx="6858000" cy="9144000"/>
  <p:embeddedFontLst>
    <p:embeddedFont>
      <p:font typeface="Franklin Gothic"/>
      <p:bold r:id="rId21"/>
    </p:embeddedFont>
    <p:embeddedFont>
      <p:font typeface="Bebas Neue"/>
      <p:regular r:id="rId22"/>
    </p:embeddedFont>
    <p:embeddedFont>
      <p:font typeface="Roboto Condensed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jVfM1PA9NaypLn3IyBMbYEqest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373E01-850B-47C2-8198-B6D3BFAC3556}">
  <a:tblStyle styleId="{D7373E01-850B-47C2-8198-B6D3BFAC35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BebasNeue-regular.fntdata"/><Relationship Id="rId21" Type="http://schemas.openxmlformats.org/officeDocument/2006/relationships/font" Target="fonts/FranklinGothic-bold.fntdata"/><Relationship Id="rId24" Type="http://schemas.openxmlformats.org/officeDocument/2006/relationships/font" Target="fonts/RobotoCondensed-bold.fntdata"/><Relationship Id="rId23" Type="http://schemas.openxmlformats.org/officeDocument/2006/relationships/font" Target="fonts/RobotoCondense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Condensed-boldItalic.fntdata"/><Relationship Id="rId25" Type="http://schemas.openxmlformats.org/officeDocument/2006/relationships/font" Target="fonts/RobotoCondensed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Mon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06c7180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a06c7180bb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fcc4ddf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6fcc4ddf1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06c7180bb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a06c7180bb_1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06c7180b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a06c7180bb_1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/>
          <p:nvPr>
            <p:ph type="ctrTitle"/>
          </p:nvPr>
        </p:nvSpPr>
        <p:spPr>
          <a:xfrm>
            <a:off x="233781" y="744575"/>
            <a:ext cx="639045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/>
        </p:txBody>
      </p:sp>
      <p:sp>
        <p:nvSpPr>
          <p:cNvPr id="13" name="Google Shape;13;p54"/>
          <p:cNvSpPr txBox="1"/>
          <p:nvPr>
            <p:ph idx="1" type="subTitle"/>
          </p:nvPr>
        </p:nvSpPr>
        <p:spPr>
          <a:xfrm>
            <a:off x="233775" y="2834125"/>
            <a:ext cx="639045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/>
        </p:txBody>
      </p:sp>
      <p:sp>
        <p:nvSpPr>
          <p:cNvPr id="17" name="Google Shape;17;p55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6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" type="body"/>
          </p:nvPr>
        </p:nvSpPr>
        <p:spPr>
          <a:xfrm>
            <a:off x="233775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5" name="Google Shape;25;p57"/>
          <p:cNvSpPr txBox="1"/>
          <p:nvPr>
            <p:ph idx="2" type="body"/>
          </p:nvPr>
        </p:nvSpPr>
        <p:spPr>
          <a:xfrm>
            <a:off x="3624300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6" name="Google Shape;26;p57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8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9"/>
          <p:cNvSpPr txBox="1"/>
          <p:nvPr>
            <p:ph type="title"/>
          </p:nvPr>
        </p:nvSpPr>
        <p:spPr>
          <a:xfrm>
            <a:off x="233775" y="555600"/>
            <a:ext cx="2106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/>
        </p:txBody>
      </p:sp>
      <p:sp>
        <p:nvSpPr>
          <p:cNvPr id="32" name="Google Shape;32;p59"/>
          <p:cNvSpPr txBox="1"/>
          <p:nvPr>
            <p:ph idx="1" type="body"/>
          </p:nvPr>
        </p:nvSpPr>
        <p:spPr>
          <a:xfrm>
            <a:off x="233775" y="1389600"/>
            <a:ext cx="2106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33" name="Google Shape;33;p59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0"/>
          <p:cNvSpPr txBox="1"/>
          <p:nvPr>
            <p:ph type="title"/>
          </p:nvPr>
        </p:nvSpPr>
        <p:spPr>
          <a:xfrm>
            <a:off x="367688" y="450150"/>
            <a:ext cx="477585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36" name="Google Shape;36;p60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1"/>
          <p:cNvSpPr/>
          <p:nvPr/>
        </p:nvSpPr>
        <p:spPr>
          <a:xfrm>
            <a:off x="3429000" y="-125"/>
            <a:ext cx="342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1"/>
          <p:cNvSpPr txBox="1"/>
          <p:nvPr>
            <p:ph type="title"/>
          </p:nvPr>
        </p:nvSpPr>
        <p:spPr>
          <a:xfrm>
            <a:off x="199125" y="1233175"/>
            <a:ext cx="30339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/>
        </p:txBody>
      </p:sp>
      <p:sp>
        <p:nvSpPr>
          <p:cNvPr id="40" name="Google Shape;40;p61"/>
          <p:cNvSpPr txBox="1"/>
          <p:nvPr>
            <p:ph idx="1" type="subTitle"/>
          </p:nvPr>
        </p:nvSpPr>
        <p:spPr>
          <a:xfrm>
            <a:off x="199125" y="2803075"/>
            <a:ext cx="3033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/>
        </p:txBody>
      </p:sp>
      <p:sp>
        <p:nvSpPr>
          <p:cNvPr id="41" name="Google Shape;41;p61"/>
          <p:cNvSpPr txBox="1"/>
          <p:nvPr>
            <p:ph idx="2" type="body"/>
          </p:nvPr>
        </p:nvSpPr>
        <p:spPr>
          <a:xfrm>
            <a:off x="3704625" y="724075"/>
            <a:ext cx="287775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2"/>
          <p:cNvSpPr txBox="1"/>
          <p:nvPr>
            <p:ph idx="1" type="body"/>
          </p:nvPr>
        </p:nvSpPr>
        <p:spPr>
          <a:xfrm>
            <a:off x="233775" y="4230575"/>
            <a:ext cx="4499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62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/>
          <p:nvPr>
            <p:ph hasCustomPrompt="1" type="title"/>
          </p:nvPr>
        </p:nvSpPr>
        <p:spPr>
          <a:xfrm>
            <a:off x="233775" y="1106125"/>
            <a:ext cx="639045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48" name="Google Shape;48;p63"/>
          <p:cNvSpPr txBox="1"/>
          <p:nvPr>
            <p:ph idx="1" type="body"/>
          </p:nvPr>
        </p:nvSpPr>
        <p:spPr>
          <a:xfrm>
            <a:off x="233775" y="3152225"/>
            <a:ext cx="639045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31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1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1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9" name="Google Shape;5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1" name="Google Shape;61;p31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OBJECT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7" name="Google Shape;67;p4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8" name="Google Shape;68;p4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7">
  <p:cSld name="TITLE_3_2_2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  <p:sp>
        <p:nvSpPr>
          <p:cNvPr id="72" name="Google Shape;72;p43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74" name="Google Shape;74;p43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7">
  <p:cSld name="OBJECT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17284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4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1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4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80" name="Google Shape;80;p44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44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8">
  <p:cSld name="TITLE_3_2_1_1">
    <p:bg>
      <p:bgPr>
        <a:solidFill>
          <a:schemeClr val="accent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persona, foto, hombre, mujer&#10;&#10;Descripción generada automáticamente" id="85" name="Google Shape;85;p45"/>
          <p:cNvPicPr preferRelativeResize="0"/>
          <p:nvPr/>
        </p:nvPicPr>
        <p:blipFill rotWithShape="1">
          <a:blip r:embed="rId2">
            <a:alphaModFix/>
          </a:blip>
          <a:srcRect b="0" l="0" r="16348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6" name="Google Shape;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5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8">
  <p:cSld name="OBJECT_1_1_1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6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6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6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93" name="Google Shape;93;p46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4" name="Google Shape;94;p46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46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9">
  <p:cSld name="TITLE_3_3_1">
    <p:bg>
      <p:bgPr>
        <a:solidFill>
          <a:schemeClr val="accent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7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99" name="Google Shape;99;p47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0" name="Google Shape;100;p47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9">
  <p:cSld name="OBJECT_1_1_1_1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8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8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6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6" name="Google Shape;106;p48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7" name="Google Shape;107;p48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48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0">
  <p:cSld name="TITLE_3_4_1">
    <p:bg>
      <p:bgPr>
        <a:solidFill>
          <a:srgbClr val="73381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foto, hombre, mujer&#10;&#10;Descripción generada automáticamente" id="112" name="Google Shape;112;p49"/>
          <p:cNvPicPr preferRelativeResize="0"/>
          <p:nvPr/>
        </p:nvPicPr>
        <p:blipFill rotWithShape="1">
          <a:blip r:embed="rId3">
            <a:alphaModFix/>
          </a:blip>
          <a:srcRect b="0" l="0" r="16348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3" name="Google Shape;113;p49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0">
  <p:cSld name="OBJECT_1_1_1_1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0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73381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0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733814"/>
              </a:gs>
              <a:gs pos="100000">
                <a:srgbClr val="733814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0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19" name="Google Shape;119;p50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0" name="Google Shape;120;p50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1">
  <p:cSld name="TITLE_3_5_1">
    <p:bg>
      <p:bgPr>
        <a:solidFill>
          <a:srgbClr val="6C7A8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1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125" name="Google Shape;125;p51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6" name="Google Shape;126;p51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1">
  <p:cSld name="OBJECT_1_1_1_1_5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6C7A8A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6C7A8A"/>
              </a:gs>
              <a:gs pos="100000">
                <a:srgbClr val="6C7A8A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32" name="Google Shape;132;p5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3" name="Google Shape;53;p28"/>
          <p:cNvSpPr txBox="1"/>
          <p:nvPr>
            <p:ph type="title"/>
          </p:nvPr>
        </p:nvSpPr>
        <p:spPr>
          <a:xfrm>
            <a:off x="1322775" y="159544"/>
            <a:ext cx="50638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Xm1rYkeE97Km0gI74uuO4kGKeASkY9VR/edit?usp=sharing&amp;ouid=103630639320150387406&amp;rtpof=true&amp;sd=tru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u/0/d/10e0Dl_L4SPaIziaM0D_uNNGXVoaf6ZBx9LY11BPfSvY/ed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766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610375" y="784800"/>
            <a:ext cx="5802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SMARTPHARM CRM Sistema CRM 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Especializado para Farmacias Pequeñas en Chile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Capstone - Ingeniería en Informática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 UC - Sede Antonio Varas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b="37003" l="0" r="0" t="0"/>
          <a:stretch/>
        </p:blipFill>
        <p:spPr>
          <a:xfrm>
            <a:off x="4769315" y="-555667"/>
            <a:ext cx="1764099" cy="1111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3394100" y="3311775"/>
            <a:ext cx="337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Integrantes: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Enrique García - Líder de Proyecto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Daniel Acevedo - Validación de Mercado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Bastian Hartal - Desarrollador Full-Stack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Sede</a:t>
            </a: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Duoc UC - Antonio Varas</a:t>
            </a:r>
            <a:endParaRPr b="0"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0</a:t>
            </a:r>
            <a:r>
              <a:rPr i="1" lang="es" sz="12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i="1" lang="es" sz="1200">
                <a:latin typeface="Calibri"/>
                <a:ea typeface="Calibri"/>
                <a:cs typeface="Calibri"/>
                <a:sym typeface="Calibri"/>
              </a:rPr>
              <a:t>Diciembre del </a:t>
            </a:r>
            <a:r>
              <a:rPr b="0" i="1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48" name="Google Shape;148;p4"/>
          <p:cNvSpPr txBox="1"/>
          <p:nvPr/>
        </p:nvSpPr>
        <p:spPr>
          <a:xfrm>
            <a:off x="1279225" y="917088"/>
            <a:ext cx="38673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Contexto del mercado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Situación actual y problemas identificados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Requerimientos funcionales y técnicos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Análisis de alternativas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Indicadores económicos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Arquitectura técnica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Proceso de implementación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Demostración del MVP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2347752" y="4667450"/>
            <a:ext cx="236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Enrique García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06c7180bb_1_0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55" name="Google Shape;155;g3a06c7180bb_1_0"/>
          <p:cNvSpPr txBox="1"/>
          <p:nvPr/>
        </p:nvSpPr>
        <p:spPr>
          <a:xfrm>
            <a:off x="626300" y="760375"/>
            <a:ext cx="5134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MERCADO OBJETIVO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3200 farmacias pequeñas en Chile  (menos de 5 empleados)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Gestión 100% manual: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Excel, papel, WhatsApp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Sin herramientas CRM especializadas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Sector farmacéutico tradicional desatendido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Duración: 10 semanas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(7 octubre - 25 noviembre 2025)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Entregables: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MVP funcional completo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Business plan validado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❖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Análisis financiero detallado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06c7180bb_1_0"/>
          <p:cNvSpPr txBox="1"/>
          <p:nvPr/>
        </p:nvSpPr>
        <p:spPr>
          <a:xfrm>
            <a:off x="3394402" y="4774200"/>
            <a:ext cx="236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Enrique García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62" name="Google Shape;162;p6"/>
          <p:cNvSpPr txBox="1"/>
          <p:nvPr/>
        </p:nvSpPr>
        <p:spPr>
          <a:xfrm>
            <a:off x="84700" y="773775"/>
            <a:ext cx="34242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📊 DATOS REALES ANALIZADOS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152.429 transacciones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Período: Ene 2022 - Sep 2025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2.848 clientes únicos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Base histórica completa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4.700 productos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Inventario con movimientos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❖"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$808M CLP en ventas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Validación de volumen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💡 Oportunidad: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   Datos subutilizados + Machine Learning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2253197" y="4804800"/>
            <a:ext cx="192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Enrique García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3337950" y="773775"/>
            <a:ext cx="33351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⚠️ PROBLEMAS CRÍTICOS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1️⃣ SIN SEGMENTACIÓN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• No identifican clientes alto valor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• Sin seguimiento pacientes crónicos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💰 Pérdida ventas recurrentes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2️⃣ CERO PREDICCIÓN DEMANDA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• Quiebres de stock frecuentes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• Sobrestocks que expiran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💰 Pérdidas por obsolescencia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3️⃣ OFERTAS MANUAL (2-3 hrs/sem)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• Comparación incompleta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💰 Mayores costos adquisición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4️⃣ CRMs INACCESIBLES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• $80.000 - $300.000/mes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• No especializados farmacia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alibri"/>
                <a:ea typeface="Calibri"/>
                <a:cs typeface="Calibri"/>
                <a:sym typeface="Calibri"/>
              </a:rPr>
              <a:t>   💰 Sin acceso a tecnología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70" name="Google Shape;170;p7"/>
          <p:cNvSpPr txBox="1"/>
          <p:nvPr/>
        </p:nvSpPr>
        <p:spPr>
          <a:xfrm>
            <a:off x="93300" y="873800"/>
            <a:ext cx="33357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CRM especializado y económicamente accesible para farmacias pequeñas en Chile, que automatice procesos críticos mediante Machine Learning.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1️⃣ SEGMENTACIÓN INTELIGENTE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 automática de clientes con 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87% de precisión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2401496" y="4668925"/>
            <a:ext cx="205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3536150" y="873600"/>
            <a:ext cx="3216000" cy="3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2️⃣ PREDICCIÓN ESTACIONAL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Forecast de demanda para 126 categorías de productos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MAPE &lt; 15%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3️⃣ AUTOMATIZACIÓN DE OFERTAS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 automático mediante ETL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Reducir 2-3 horas a 5 minutos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4️⃣ PRICING DISRUPTIVO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accesible para micro-farmacias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$18.000/mes (75% menor que competencia)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5️⃣ VIABILIDAD ECONÓMICA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Validar rentabilidad del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VAN positivo, TIR &gt; 12%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78" name="Google Shape;178;p8"/>
          <p:cNvSpPr txBox="1"/>
          <p:nvPr/>
        </p:nvSpPr>
        <p:spPr>
          <a:xfrm>
            <a:off x="889650" y="806700"/>
            <a:ext cx="5597400" cy="3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⚙️ FUNCIONALES                                                                    🔧 NO FUNCIONALES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👥 Gestión de clientes                                                            ⚡ Rendimiento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Segmentación ML                                                                      • APIs &lt; 500ms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Perfiles dinámicos                                                                     • Carga página &lt; 2s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📦 Inventario inteligente                                                        📈 Escalabilidad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Stock dinámico                                                                           • 500 farmacias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Alertas automáticas                                                               </a:t>
            </a: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alibri"/>
                <a:ea typeface="Calibri"/>
                <a:cs typeface="Calibri"/>
                <a:sym typeface="Calibri"/>
              </a:rPr>
              <a:t>  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📧 Procesamiento ofertas                                                      🔒 Seguridad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ETL Gmail API                                                                             • OAuth 2.0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Comparación automática                                                        • Encriptación datos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Predicción demanda                                                           ✅ Disponibilidad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ML estacionalidad                                                                     • 99,5% uptime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126 categorías                                                                            • Respaldos diarios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📱 Dashboard ejecutivo                                                          </a:t>
            </a:r>
            <a:endParaRPr b="1" sz="1200">
              <a:solidFill>
                <a:schemeClr val="dk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KPIs tiempo real                                                                  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Auto-refresh 30s                                                                    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1932478" y="4804800"/>
            <a:ext cx="201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85" name="Google Shape;185;p9"/>
          <p:cNvSpPr txBox="1"/>
          <p:nvPr/>
        </p:nvSpPr>
        <p:spPr>
          <a:xfrm>
            <a:off x="552325" y="1054125"/>
            <a:ext cx="28767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ALTERNATIVAS EVALUADAS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Sisfarma (España)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Líder europeo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disponible Chile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($200-300K/mes)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DESCARTADA</a:t>
            </a:r>
            <a:endParaRPr b="1" i="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CRM Genéricos (Zoho, HubSpot)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Desde $30K/mes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especializados farmacia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DESCARTADA</a:t>
            </a:r>
            <a:endParaRPr b="1" i="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2378656" y="4713591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Daniel Acevedo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3782375" y="1521050"/>
            <a:ext cx="2876700" cy="23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Desarrollo In-House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total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$10-15M CLP, 6-12 meses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DESCARTADA</a:t>
            </a:r>
            <a:endParaRPr b="1" i="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SmartPharm CRM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Especializado + Cloud + ML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$18K/mes (-75%)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</a:t>
            </a:r>
            <a:r>
              <a:rPr b="1" i="0" lang="es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SELECCIONADA</a:t>
            </a:r>
            <a:endParaRPr b="1" i="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fcc4ddf1a_0_0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93" name="Google Shape;193;g36fcc4ddf1a_0_0"/>
          <p:cNvSpPr txBox="1"/>
          <p:nvPr/>
        </p:nvSpPr>
        <p:spPr>
          <a:xfrm>
            <a:off x="870268" y="74506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INDICADORES ECONÓMICOS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6fcc4ddf1a_0_0"/>
          <p:cNvSpPr txBox="1"/>
          <p:nvPr/>
        </p:nvSpPr>
        <p:spPr>
          <a:xfrm>
            <a:off x="2378706" y="47894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Daniel Acevedo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5" name="Google Shape;195;g36fcc4ddf1a_0_0"/>
          <p:cNvGraphicFramePr/>
          <p:nvPr/>
        </p:nvGraphicFramePr>
        <p:xfrm>
          <a:off x="952500" y="12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{D7373E01-850B-47C2-8198-B6D3BFAC3556}</a:tableStyleId>
              </a:tblPr>
              <a:tblGrid>
                <a:gridCol w="2476500"/>
                <a:gridCol w="2476500"/>
              </a:tblGrid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Inversión Inicial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$9.500.000 CLP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VAN (5 años)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$11.353.128 CLP ✅</a:t>
                      </a:r>
                      <a:endParaRPr b="1" sz="1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Tasa Descuento (TREMA)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 anual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TIR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34,1</a:t>
                      </a: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anual ✅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ROI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267</a:t>
                      </a: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acumulado ✅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Punto Equilibrio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farmacias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Char char="❖"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Recuperación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 años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g36fcc4ddf1a_0_0"/>
          <p:cNvSpPr txBox="1"/>
          <p:nvPr/>
        </p:nvSpPr>
        <p:spPr>
          <a:xfrm>
            <a:off x="870275" y="4084950"/>
            <a:ext cx="495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★"/>
            </a:pP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Modelo:</a:t>
            </a: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$18.000/mes | </a:t>
            </a: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-75%</a:t>
            </a: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v/s competencia</a:t>
            </a:r>
            <a:endParaRPr sz="1500"/>
          </a:p>
        </p:txBody>
      </p:sp>
      <p:sp>
        <p:nvSpPr>
          <p:cNvPr id="197" name="Google Shape;197;g36fcc4ddf1a_0_0"/>
          <p:cNvSpPr txBox="1"/>
          <p:nvPr/>
        </p:nvSpPr>
        <p:spPr>
          <a:xfrm>
            <a:off x="4840500" y="4092750"/>
            <a:ext cx="20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📊 Ver Análisis Económico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03" name="Google Shape;203;p19"/>
          <p:cNvSpPr txBox="1"/>
          <p:nvPr/>
        </p:nvSpPr>
        <p:spPr>
          <a:xfrm>
            <a:off x="306550" y="776450"/>
            <a:ext cx="125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SOLUCIÓN: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2378693" y="47256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1279225" y="1053723"/>
            <a:ext cx="39849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SMARTPHARM CRM - 5 MÓDULOS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Clientes ML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87% precisión | 2.848 clientes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Inventario Inteligente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Stock dinámico ML | 4.700 productos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ETL Ofertas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Gmail API + Celery | Automático diario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Predicción Estacional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s" sz="1200"/>
              <a:t>   1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 categorías | 90% confianza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b="1" i="0" lang="es" sz="1200" u="none" cap="none" strike="noStrike">
                <a:solidFill>
                  <a:srgbClr val="000000"/>
                </a:solidFill>
              </a:rPr>
              <a:t>Dashboard</a:t>
            </a:r>
            <a:endParaRPr b="1"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KPIs tiempo real | Auto-refresh 30s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a06c7180bb_1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050" y="844025"/>
            <a:ext cx="5789424" cy="42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a06c7180bb_1_42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12" name="Google Shape;212;g3a06c7180bb_1_42"/>
          <p:cNvSpPr txBox="1"/>
          <p:nvPr/>
        </p:nvSpPr>
        <p:spPr>
          <a:xfrm>
            <a:off x="37568" y="48047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a06c7180bb_1_42"/>
          <p:cNvSpPr txBox="1"/>
          <p:nvPr/>
        </p:nvSpPr>
        <p:spPr>
          <a:xfrm>
            <a:off x="0" y="675800"/>
            <a:ext cx="197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19" name="Google Shape;219;p23"/>
          <p:cNvSpPr txBox="1"/>
          <p:nvPr/>
        </p:nvSpPr>
        <p:spPr>
          <a:xfrm>
            <a:off x="716350" y="784975"/>
            <a:ext cx="5118900" cy="3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- 10 SEMANAS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1: Análisis (Sem 1-3)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Requerimientos + Competencia + Arquitectura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2: Gestión PMI (Sem 4-7)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Gantt + Económico Riesgos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3: Desarrollo Ágil (Sem 8-10)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Sprint 1: Segmentación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Sprint 2: Predicción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Sprint 3: ETL Ofertas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MVP 100% funcional (Nov </a:t>
            </a: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152K transacciones procesadas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📅 Ver Carta Gantt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2378656" y="4767766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06c7180bb_1_32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26" name="Google Shape;226;g3a06c7180bb_1_32"/>
          <p:cNvSpPr txBox="1"/>
          <p:nvPr/>
        </p:nvSpPr>
        <p:spPr>
          <a:xfrm>
            <a:off x="1156275" y="1195100"/>
            <a:ext cx="49395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DEMOSTRACIÓN EN VIVO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▶️ Segmentación de clientes (ML)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▶️ Predicción de demanda estacional 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▶️ Procesamiento automático de ofertas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a06c7180bb_1_32"/>
          <p:cNvSpPr txBox="1"/>
          <p:nvPr/>
        </p:nvSpPr>
        <p:spPr>
          <a:xfrm>
            <a:off x="2378706" y="470449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33" name="Google Shape;233;p26"/>
          <p:cNvSpPr txBox="1"/>
          <p:nvPr/>
        </p:nvSpPr>
        <p:spPr>
          <a:xfrm>
            <a:off x="263950" y="846025"/>
            <a:ext cx="6418200" cy="3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CONCLUSIONES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LOGROS ALCANZADOS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✅ Técnico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      MVP 100% funcional | Modelo ML 87% precisión | 152K registros procesados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✅ Económico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      VAN $11,3M | TIR 34,1% | Recuperación Año 3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✅ Mercado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      Validación con datos reales | 3.200 farmacias objetivo | Pricing disruptivo $18K/mes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✅ Competencias de Ingeniería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      Gestión PMI | Análisis financiero | Desarrollo Full-stack | Machine Learning</a:t>
            </a:r>
            <a:endParaRPr b="1"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1200"/>
          </a:p>
        </p:txBody>
      </p:sp>
      <p:sp>
        <p:nvSpPr>
          <p:cNvPr id="234" name="Google Shape;234;p26"/>
          <p:cNvSpPr txBox="1"/>
          <p:nvPr/>
        </p:nvSpPr>
        <p:spPr>
          <a:xfrm>
            <a:off x="2341656" y="4678041"/>
            <a:ext cx="21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Enrique García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49516a-7525-4936-8880-b1dc1e580865_Enabled">
    <vt:lpwstr>true</vt:lpwstr>
  </property>
  <property fmtid="{D5CDD505-2E9C-101B-9397-08002B2CF9AE}" pid="3" name="MSIP_Label_af49516a-7525-4936-8880-b1dc1e580865_SetDate">
    <vt:lpwstr>2022-10-11T17:07:11Z</vt:lpwstr>
  </property>
  <property fmtid="{D5CDD505-2E9C-101B-9397-08002B2CF9AE}" pid="4" name="MSIP_Label_af49516a-7525-4936-8880-b1dc1e580865_Method">
    <vt:lpwstr>Privileged</vt:lpwstr>
  </property>
  <property fmtid="{D5CDD505-2E9C-101B-9397-08002B2CF9AE}" pid="5" name="MSIP_Label_af49516a-7525-4936-8880-b1dc1e580865_Name">
    <vt:lpwstr>Non-visible label</vt:lpwstr>
  </property>
  <property fmtid="{D5CDD505-2E9C-101B-9397-08002B2CF9AE}" pid="6" name="MSIP_Label_af49516a-7525-4936-8880-b1dc1e580865_SiteId">
    <vt:lpwstr>3bea478c-1684-4a8c-8e85-045ec54ba430</vt:lpwstr>
  </property>
  <property fmtid="{D5CDD505-2E9C-101B-9397-08002B2CF9AE}" pid="7" name="MSIP_Label_af49516a-7525-4936-8880-b1dc1e580865_ActionId">
    <vt:lpwstr>15bef36e-c1cf-474d-aa70-06169529d7fd</vt:lpwstr>
  </property>
  <property fmtid="{D5CDD505-2E9C-101B-9397-08002B2CF9AE}" pid="8" name="MSIP_Label_af49516a-7525-4936-8880-b1dc1e580865_ContentBits">
    <vt:lpwstr>0</vt:lpwstr>
  </property>
</Properties>
</file>